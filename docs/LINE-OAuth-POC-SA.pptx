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mov" ContentType="video/mov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video" Target="../media/media-10-1.mov"/><Relationship Id="rId2" Type="http://schemas.microsoft.com/office/2007/relationships/media" Target="../media/media-10-1.mov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video" Target="../media/media-11-1.mov"/><Relationship Id="rId2" Type="http://schemas.microsoft.com/office/2007/relationships/media" Target="../media/media-11-1.mov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8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6C755"/>
          </a:solidFill>
          <a:ln/>
        </p:spPr>
      </p:sp>
      <p:sp>
        <p:nvSpPr>
          <p:cNvPr id="3" name="Shape 1"/>
          <p:cNvSpPr/>
          <p:nvPr/>
        </p:nvSpPr>
        <p:spPr>
          <a:xfrm>
            <a:off x="9418320" y="-1463040"/>
            <a:ext cx="4114800" cy="41148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4297680"/>
            <a:ext cx="2926080" cy="2926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371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06C755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概念驗證 · SYSTEM ANALYSIS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18745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LINE Login OAuth 2.0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822960" y="27889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ADCF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第三方登入身分驗證　POC 技術報告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822960" y="3611880"/>
            <a:ext cx="3840480" cy="0"/>
          </a:xfrm>
          <a:prstGeom prst="line">
            <a:avLst/>
          </a:prstGeom>
          <a:noFill/>
          <a:ln w="25400">
            <a:solidFill>
              <a:srgbClr val="06C7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840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驗證範圍　</a:t>
            </a:r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LINE 登入 → 後端簽發自家 JWT → 前端存取受保護資源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4709160"/>
            <a:ext cx="1865376" cy="45720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 w="12700">
            <a:solidFill>
              <a:srgbClr val="06C7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4709160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React + Vite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916936" y="4709160"/>
            <a:ext cx="3223260" cy="45720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 w="12700">
            <a:solidFill>
              <a:srgbClr val="06C7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16936" y="4709160"/>
            <a:ext cx="32232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Spring Boot 3 / Java 21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368796" y="4709160"/>
            <a:ext cx="1988820" cy="45720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 w="12700">
            <a:solidFill>
              <a:srgbClr val="06C7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68796" y="4709160"/>
            <a:ext cx="19888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PostgreSQL 16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586216" y="4709160"/>
            <a:ext cx="2112264" cy="45720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 w="12700">
            <a:solidFill>
              <a:srgbClr val="06C7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86216" y="4709160"/>
            <a:ext cx="2112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Docker Compose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2960" y="5943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文件版本 v0.1　·　2026-06-29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218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06C755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5603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6C755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OBJECTIVE &amp; SCOPE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目的與範圍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10908792" cy="91440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600200"/>
            <a:ext cx="91440" cy="914400"/>
          </a:xfrm>
          <a:prstGeom prst="rect">
            <a:avLst/>
          </a:prstGeom>
          <a:solidFill>
            <a:srgbClr val="06C755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1719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C755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目的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1993392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F3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驗證以 LINE Login 作為第三方身分提供者，使用者免註冊即可登入；登入後由後端簽發自家 JWT，前端持 JWT 存取受保護 API。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2788920"/>
            <a:ext cx="5285232" cy="502920"/>
          </a:xfrm>
          <a:prstGeom prst="rect">
            <a:avLst/>
          </a:prstGeom>
          <a:solidFill>
            <a:srgbClr val="12183A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788920"/>
            <a:ext cx="5010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範圍內 In Scope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3291840"/>
            <a:ext cx="5285232" cy="288036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447288"/>
            <a:ext cx="4873752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F3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Authorization Code 授權流程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F3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state + HttpOnly Cookie 防 CSRF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F3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以 Channel secret 換 access_token、取 profile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F3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依 lineUserId upsert 使用者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F3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簽發 / 驗證自家 JWT，保護 /api/me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F3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前端登入頁、回呼頁、401 自動登出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63640" y="2788920"/>
            <a:ext cx="5285232" cy="502920"/>
          </a:xfrm>
          <a:prstGeom prst="rect">
            <a:avLst/>
          </a:prstGeom>
          <a:solidFill>
            <a:srgbClr val="5B6478"/>
          </a:solidFill>
          <a:ln/>
        </p:spPr>
      </p:sp>
      <p:sp>
        <p:nvSpPr>
          <p:cNvPr id="15" name="Text 13"/>
          <p:cNvSpPr/>
          <p:nvPr/>
        </p:nvSpPr>
        <p:spPr>
          <a:xfrm>
            <a:off x="6446520" y="2788920"/>
            <a:ext cx="5010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範圍外 Out of Scope（POC 限制）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263640" y="3291840"/>
            <a:ext cx="5285232" cy="288036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17" name="Text 15"/>
          <p:cNvSpPr/>
          <p:nvPr/>
        </p:nvSpPr>
        <p:spPr>
          <a:xfrm>
            <a:off x="6492240" y="3447288"/>
            <a:ext cx="4873752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B647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Refresh token / token 續期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B647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id_token（OIDC）簽章驗證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B647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角色權限 RBAC、多租戶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B647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正式環境密鑰管理（KMS / Secret Manager）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B647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登出、帳號解綁、稽核日誌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LINE Login OAuth 2.0 POC · 系統分析報告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218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06C755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5603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6C755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系統架構與技術棧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2148840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23317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使用者瀏覽器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74320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Browser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807208" y="2651760"/>
            <a:ext cx="374904" cy="0"/>
          </a:xfrm>
          <a:prstGeom prst="line">
            <a:avLst/>
          </a:prstGeom>
          <a:noFill/>
          <a:ln w="19050">
            <a:solidFill>
              <a:srgbClr val="5B6478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200400" y="1965960"/>
            <a:ext cx="2148840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00400" y="23317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前端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200400" y="274320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React / Vite :5173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367528" y="2651760"/>
            <a:ext cx="374904" cy="0"/>
          </a:xfrm>
          <a:prstGeom prst="line">
            <a:avLst/>
          </a:prstGeom>
          <a:noFill/>
          <a:ln w="19050">
            <a:solidFill>
              <a:srgbClr val="5B647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760720" y="1965960"/>
            <a:ext cx="2148840" cy="1371600"/>
          </a:xfrm>
          <a:prstGeom prst="roundRect">
            <a:avLst>
              <a:gd name="adj" fmla="val 5333"/>
            </a:avLst>
          </a:prstGeom>
          <a:solidFill>
            <a:srgbClr val="06C75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760720" y="23317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後端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760720" y="274320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B3B1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Spring Boot :8080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927848" y="2651760"/>
            <a:ext cx="374904" cy="0"/>
          </a:xfrm>
          <a:prstGeom prst="line">
            <a:avLst/>
          </a:prstGeom>
          <a:noFill/>
          <a:ln w="19050">
            <a:solidFill>
              <a:srgbClr val="5B6478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321040" y="1965960"/>
            <a:ext cx="2148840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321040" y="23317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資料庫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321040" y="274320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PostgreSQL :5432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349240" y="3611880"/>
            <a:ext cx="2148840" cy="777240"/>
          </a:xfrm>
          <a:prstGeom prst="roundRect">
            <a:avLst>
              <a:gd name="adj" fmla="val 9412"/>
            </a:avLst>
          </a:prstGeom>
          <a:solidFill>
            <a:srgbClr val="12183A"/>
          </a:solidFill>
          <a:ln w="19050">
            <a:solidFill>
              <a:srgbClr val="06C7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49240" y="371246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LINE 平台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349240" y="398678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token / profile API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419088" y="3337560"/>
            <a:ext cx="0" cy="274320"/>
          </a:xfrm>
          <a:prstGeom prst="line">
            <a:avLst/>
          </a:prstGeom>
          <a:noFill/>
          <a:ln w="19050">
            <a:solidFill>
              <a:srgbClr val="06C755"/>
            </a:solidFill>
            <a:prstDash val="solid"/>
            <a:headEnd type="triangle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4572000" y="4434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647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OAuth redirect + 後端 API 呼叫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0080" y="5029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183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技術棧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40080" y="5367528"/>
            <a:ext cx="3584448" cy="86868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28" name="Shape 26"/>
          <p:cNvSpPr/>
          <p:nvPr/>
        </p:nvSpPr>
        <p:spPr>
          <a:xfrm>
            <a:off x="640080" y="5367528"/>
            <a:ext cx="73152" cy="868680"/>
          </a:xfrm>
          <a:prstGeom prst="rect">
            <a:avLst/>
          </a:prstGeom>
          <a:solidFill>
            <a:srgbClr val="06C755"/>
          </a:solidFill>
          <a:ln/>
        </p:spPr>
      </p:sp>
      <p:sp>
        <p:nvSpPr>
          <p:cNvPr id="29" name="Text 27"/>
          <p:cNvSpPr/>
          <p:nvPr/>
        </p:nvSpPr>
        <p:spPr>
          <a:xfrm>
            <a:off x="841248" y="5458968"/>
            <a:ext cx="3264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C755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前端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41248" y="5733288"/>
            <a:ext cx="3264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React 18 · TS · Vite · Tailwind · TanStack Query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389120" y="5367528"/>
            <a:ext cx="3584448" cy="86868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32" name="Shape 30"/>
          <p:cNvSpPr/>
          <p:nvPr/>
        </p:nvSpPr>
        <p:spPr>
          <a:xfrm>
            <a:off x="4389120" y="5367528"/>
            <a:ext cx="73152" cy="868680"/>
          </a:xfrm>
          <a:prstGeom prst="rect">
            <a:avLst/>
          </a:prstGeom>
          <a:solidFill>
            <a:srgbClr val="06C755"/>
          </a:solidFill>
          <a:ln/>
        </p:spPr>
      </p:sp>
      <p:sp>
        <p:nvSpPr>
          <p:cNvPr id="33" name="Text 31"/>
          <p:cNvSpPr/>
          <p:nvPr/>
        </p:nvSpPr>
        <p:spPr>
          <a:xfrm>
            <a:off x="4590288" y="5458968"/>
            <a:ext cx="3264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C755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後端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590288" y="5733288"/>
            <a:ext cx="3264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Java 21 · Spring Boot 3 · Spring Security 6 · JPA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8138160" y="5367528"/>
            <a:ext cx="3584448" cy="86868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36" name="Shape 34"/>
          <p:cNvSpPr/>
          <p:nvPr/>
        </p:nvSpPr>
        <p:spPr>
          <a:xfrm>
            <a:off x="8138160" y="5367528"/>
            <a:ext cx="73152" cy="868680"/>
          </a:xfrm>
          <a:prstGeom prst="rect">
            <a:avLst/>
          </a:prstGeom>
          <a:solidFill>
            <a:srgbClr val="06C755"/>
          </a:solidFill>
          <a:ln/>
        </p:spPr>
      </p:sp>
      <p:sp>
        <p:nvSpPr>
          <p:cNvPr id="37" name="Text 35"/>
          <p:cNvSpPr/>
          <p:nvPr/>
        </p:nvSpPr>
        <p:spPr>
          <a:xfrm>
            <a:off x="8339328" y="5458968"/>
            <a:ext cx="3264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C755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資料 / 部署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8339328" y="5733288"/>
            <a:ext cx="3264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PostgreSQL 16 · Docker Compose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LINE Login OAuth 2.0 POC · 系統分析報告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218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06C755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5603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6C755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FLOW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OAuth 流程：四階段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6949440" cy="109728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7" name="Shape 5"/>
          <p:cNvSpPr/>
          <p:nvPr/>
        </p:nvSpPr>
        <p:spPr>
          <a:xfrm>
            <a:off x="841248" y="1901952"/>
            <a:ext cx="502920" cy="502920"/>
          </a:xfrm>
          <a:prstGeom prst="ellipse">
            <a:avLst/>
          </a:prstGeom>
          <a:solidFill>
            <a:srgbClr val="12183A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" y="19019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C755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554480" y="173736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83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階段 1　發起登入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554480" y="205740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前端要求授權，後端產生隨機 state、寫 HttpOnly Cookie，302 轉址 LINE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2807208"/>
            <a:ext cx="6949440" cy="109728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12" name="Shape 10"/>
          <p:cNvSpPr/>
          <p:nvPr/>
        </p:nvSpPr>
        <p:spPr>
          <a:xfrm>
            <a:off x="841248" y="3108960"/>
            <a:ext cx="502920" cy="502920"/>
          </a:xfrm>
          <a:prstGeom prst="ellipse">
            <a:avLst/>
          </a:prstGeom>
          <a:solidFill>
            <a:srgbClr val="12183A"/>
          </a:solidFill>
          <a:ln/>
        </p:spPr>
      </p:sp>
      <p:sp>
        <p:nvSpPr>
          <p:cNvPr id="13" name="Text 11"/>
          <p:cNvSpPr/>
          <p:nvPr/>
        </p:nvSpPr>
        <p:spPr>
          <a:xfrm>
            <a:off x="841248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C755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554480" y="2944368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83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階段 2　LINE 端授權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554480" y="3264408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帶 client_id / redirect_uri / state / scope，使用者登入並同意，回呼帶 code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014216"/>
            <a:ext cx="6949440" cy="109728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17" name="Shape 15"/>
          <p:cNvSpPr/>
          <p:nvPr/>
        </p:nvSpPr>
        <p:spPr>
          <a:xfrm>
            <a:off x="841248" y="4315968"/>
            <a:ext cx="502920" cy="502920"/>
          </a:xfrm>
          <a:prstGeom prst="ellipse">
            <a:avLst/>
          </a:prstGeom>
          <a:solidFill>
            <a:srgbClr val="12183A"/>
          </a:solidFill>
          <a:ln/>
        </p:spPr>
      </p:sp>
      <p:sp>
        <p:nvSpPr>
          <p:cNvPr id="18" name="Text 16"/>
          <p:cNvSpPr/>
          <p:nvPr/>
        </p:nvSpPr>
        <p:spPr>
          <a:xfrm>
            <a:off x="841248" y="43159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C755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554480" y="4151376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83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階段 3　換 token 與簽 JWT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554480" y="4471416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後端比對 state → 以 code+secret 換 token → 取 profile → upsert User → 簽自家 JWT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5221224"/>
            <a:ext cx="6949440" cy="109728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22" name="Shape 20"/>
          <p:cNvSpPr/>
          <p:nvPr/>
        </p:nvSpPr>
        <p:spPr>
          <a:xfrm>
            <a:off x="841248" y="5522976"/>
            <a:ext cx="502920" cy="502920"/>
          </a:xfrm>
          <a:prstGeom prst="ellipse">
            <a:avLst/>
          </a:prstGeom>
          <a:solidFill>
            <a:srgbClr val="12183A"/>
          </a:solidFill>
          <a:ln/>
        </p:spPr>
      </p:sp>
      <p:sp>
        <p:nvSpPr>
          <p:cNvPr id="23" name="Text 21"/>
          <p:cNvSpPr/>
          <p:nvPr/>
        </p:nvSpPr>
        <p:spPr>
          <a:xfrm>
            <a:off x="841248" y="55229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C755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554480" y="5358384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83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階段 4　保存與存取資源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554480" y="5678424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前端存 JWT 於 localStorage，帶 Bearer 呼叫 /api/me，JwtAuthFilter 驗章回資料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772400" y="1554480"/>
            <a:ext cx="374904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27" name="Image 0" descr="/Users/zoe/projects/line-oauth-poc/line-oauth-flow@3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9707" y="1691640"/>
            <a:ext cx="3465866" cy="4526280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7772400" y="60533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647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完整時序圖（line-oauth-flow）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LINE Login OAuth 2.0 POC · 系統分析報告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218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06C755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5603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6C755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API &amp; DATA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API 規格與資料模型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83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API 端點</a:t>
            </a:r>
            <a:endParaRPr lang="en-US" sz="1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10512"/>
          <a:ext cx="731520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234440"/>
                <a:gridCol w="28803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Method · Path</a:t>
                      </a:r>
                      <a:endParaRPr lang="en-US" sz="12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認證</a:t>
                      </a:r>
                      <a:endParaRPr lang="en-US" sz="12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說明</a:t>
                      </a:r>
                      <a:endParaRPr lang="en-US" sz="12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3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F3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 /api/auth/line/authorize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F36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—</a:t>
                      </a:r>
                      <a:endParaRPr lang="en-US" sz="115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F36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產生 state、302 轉址 LINE</a:t>
                      </a:r>
                      <a:endParaRPr lang="en-US" sz="115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F3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 /api/auth/line/callback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F36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—</a:t>
                      </a:r>
                      <a:endParaRPr lang="en-US" sz="115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F36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驗 state、換 token、簽 JWT，302 回前端</a:t>
                      </a:r>
                      <a:endParaRPr lang="en-US" sz="115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F3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 /api/me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F36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Bearer JWT</a:t>
                      </a:r>
                      <a:endParaRPr lang="en-US" sz="115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F36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取登入者資料；失敗回 401</a:t>
                      </a:r>
                      <a:endParaRPr lang="en-US" sz="115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F3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 /actuator/health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F36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—</a:t>
                      </a:r>
                      <a:endParaRPr lang="en-US" sz="115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F36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健康檢查</a:t>
                      </a:r>
                      <a:endParaRPr lang="en-US" sz="115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8229600" y="14630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83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資料模型 · users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8229600" y="1810512"/>
            <a:ext cx="3319272" cy="3246120"/>
          </a:xfrm>
          <a:prstGeom prst="rect">
            <a:avLst/>
          </a:prstGeom>
          <a:solidFill>
            <a:srgbClr val="12183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458200" y="199339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C7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9921240" y="199339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BIGINT · PK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458200" y="2350008"/>
            <a:ext cx="2862072" cy="0"/>
          </a:xfrm>
          <a:prstGeom prst="line">
            <a:avLst/>
          </a:prstGeom>
          <a:noFill/>
          <a:ln w="9525">
            <a:solidFill>
              <a:srgbClr val="1E276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458200" y="2386584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C7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line_user_id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9921240" y="2386584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UNIQUE · upsert 鍵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8458200" y="2743200"/>
            <a:ext cx="2862072" cy="0"/>
          </a:xfrm>
          <a:prstGeom prst="line">
            <a:avLst/>
          </a:prstGeom>
          <a:noFill/>
          <a:ln w="9525">
            <a:solidFill>
              <a:srgbClr val="1E276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458200" y="2779776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C7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display_name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9921240" y="2779776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NOT NULL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8458200" y="3136392"/>
            <a:ext cx="2862072" cy="0"/>
          </a:xfrm>
          <a:prstGeom prst="line">
            <a:avLst/>
          </a:prstGeom>
          <a:noFill/>
          <a:ln w="9525">
            <a:solidFill>
              <a:srgbClr val="1E276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458200" y="317296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C7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picture_url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9921240" y="317296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nullable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8458200" y="3529584"/>
            <a:ext cx="2862072" cy="0"/>
          </a:xfrm>
          <a:prstGeom prst="line">
            <a:avLst/>
          </a:prstGeom>
          <a:noFill/>
          <a:ln w="9525">
            <a:solidFill>
              <a:srgbClr val="1E276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458200" y="35661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C7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created_at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9921240" y="35661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不可更新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8458200" y="3922776"/>
            <a:ext cx="2862072" cy="0"/>
          </a:xfrm>
          <a:prstGeom prst="line">
            <a:avLst/>
          </a:prstGeom>
          <a:noFill/>
          <a:ln w="9525">
            <a:solidFill>
              <a:srgbClr val="1E2761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458200" y="395935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C7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updated_at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9921240" y="395935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每次更新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8458200" y="4315968"/>
            <a:ext cx="2862072" cy="0"/>
          </a:xfrm>
          <a:prstGeom prst="line">
            <a:avLst/>
          </a:prstGeom>
          <a:noFill/>
          <a:ln w="9525">
            <a:solidFill>
              <a:srgbClr val="1E2761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229600" y="5120640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JPA ddl-auto: update 自動建表（POC）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640080" y="5440680"/>
            <a:ext cx="7315200" cy="868680"/>
          </a:xfrm>
          <a:prstGeom prst="rect">
            <a:avLst/>
          </a:prstGeom>
          <a:solidFill>
            <a:srgbClr val="FBEEDB"/>
          </a:solidFill>
          <a:ln/>
        </p:spPr>
      </p:sp>
      <p:sp>
        <p:nvSpPr>
          <p:cNvPr id="30" name="Shape 27"/>
          <p:cNvSpPr/>
          <p:nvPr/>
        </p:nvSpPr>
        <p:spPr>
          <a:xfrm>
            <a:off x="640080" y="5440680"/>
            <a:ext cx="91440" cy="86868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1" name="Text 28"/>
          <p:cNvSpPr/>
          <p:nvPr/>
        </p:nvSpPr>
        <p:spPr>
          <a:xfrm>
            <a:off x="868680" y="55412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620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失敗情境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868680" y="5815584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JWT 無效或過期 → 後端回 401（HttpStatusEntryPoint）→ 前端攔截器清除 token 並導回 /login。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LINE Login OAuth 2.0 POC · 系統分析報告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218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06C755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5603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6C755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SECURITY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安全設計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3520440" cy="1783080"/>
          </a:xfrm>
          <a:prstGeom prst="rect">
            <a:avLst/>
          </a:prstGeom>
          <a:solidFill>
            <a:srgbClr val="F4F6F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600200"/>
            <a:ext cx="3520440" cy="73152"/>
          </a:xfrm>
          <a:prstGeom prst="rect">
            <a:avLst/>
          </a:prstGeom>
          <a:solidFill>
            <a:srgbClr val="06C755"/>
          </a:solidFill>
          <a:ln/>
        </p:spPr>
      </p:sp>
      <p:sp>
        <p:nvSpPr>
          <p:cNvPr id="8" name="Shape 6"/>
          <p:cNvSpPr/>
          <p:nvPr/>
        </p:nvSpPr>
        <p:spPr>
          <a:xfrm>
            <a:off x="868680" y="1874520"/>
            <a:ext cx="384048" cy="384048"/>
          </a:xfrm>
          <a:prstGeom prst="ellipse">
            <a:avLst/>
          </a:prstGeom>
          <a:solidFill>
            <a:srgbClr val="12183A"/>
          </a:solidFill>
          <a:ln/>
        </p:spPr>
      </p:sp>
      <p:sp>
        <p:nvSpPr>
          <p:cNvPr id="9" name="Shape 7"/>
          <p:cNvSpPr/>
          <p:nvPr/>
        </p:nvSpPr>
        <p:spPr>
          <a:xfrm>
            <a:off x="960120" y="1965960"/>
            <a:ext cx="201168" cy="201168"/>
          </a:xfrm>
          <a:prstGeom prst="ellipse">
            <a:avLst/>
          </a:prstGeom>
          <a:solidFill>
            <a:srgbClr val="06C755"/>
          </a:solidFill>
          <a:ln/>
        </p:spPr>
      </p:sp>
      <p:sp>
        <p:nvSpPr>
          <p:cNvPr id="10" name="Text 8"/>
          <p:cNvSpPr/>
          <p:nvPr/>
        </p:nvSpPr>
        <p:spPr>
          <a:xfrm>
            <a:off x="1417320" y="1856232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83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state 防護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96112" y="23774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隨機 state 存 HttpOnly Cookie，callback 比對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96112" y="295351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C755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對抗授權碼注入 / CSRF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52544" y="1600200"/>
            <a:ext cx="3520440" cy="1783080"/>
          </a:xfrm>
          <a:prstGeom prst="rect">
            <a:avLst/>
          </a:prstGeom>
          <a:solidFill>
            <a:srgbClr val="F4F6F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352544" y="1600200"/>
            <a:ext cx="3520440" cy="73152"/>
          </a:xfrm>
          <a:prstGeom prst="rect">
            <a:avLst/>
          </a:prstGeom>
          <a:solidFill>
            <a:srgbClr val="06C755"/>
          </a:solidFill>
          <a:ln/>
        </p:spPr>
      </p:sp>
      <p:sp>
        <p:nvSpPr>
          <p:cNvPr id="15" name="Shape 13"/>
          <p:cNvSpPr/>
          <p:nvPr/>
        </p:nvSpPr>
        <p:spPr>
          <a:xfrm>
            <a:off x="4581144" y="1874520"/>
            <a:ext cx="384048" cy="384048"/>
          </a:xfrm>
          <a:prstGeom prst="ellipse">
            <a:avLst/>
          </a:prstGeom>
          <a:solidFill>
            <a:srgbClr val="12183A"/>
          </a:solidFill>
          <a:ln/>
        </p:spPr>
      </p:sp>
      <p:sp>
        <p:nvSpPr>
          <p:cNvPr id="16" name="Shape 14"/>
          <p:cNvSpPr/>
          <p:nvPr/>
        </p:nvSpPr>
        <p:spPr>
          <a:xfrm>
            <a:off x="4672584" y="1965960"/>
            <a:ext cx="201168" cy="201168"/>
          </a:xfrm>
          <a:prstGeom prst="ellipse">
            <a:avLst/>
          </a:prstGeom>
          <a:solidFill>
            <a:srgbClr val="06C755"/>
          </a:solidFill>
          <a:ln/>
        </p:spPr>
      </p:sp>
      <p:sp>
        <p:nvSpPr>
          <p:cNvPr id="17" name="Text 15"/>
          <p:cNvSpPr/>
          <p:nvPr/>
        </p:nvSpPr>
        <p:spPr>
          <a:xfrm>
            <a:off x="5129784" y="1856232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83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secret 不外洩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608576" y="23774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換 token 全在後端，前端與網址不出現 secret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608576" y="295351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C755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防憑證外洩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065008" y="1600200"/>
            <a:ext cx="3520440" cy="1783080"/>
          </a:xfrm>
          <a:prstGeom prst="rect">
            <a:avLst/>
          </a:prstGeom>
          <a:solidFill>
            <a:srgbClr val="F4F6F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065008" y="1600200"/>
            <a:ext cx="3520440" cy="73152"/>
          </a:xfrm>
          <a:prstGeom prst="rect">
            <a:avLst/>
          </a:prstGeom>
          <a:solidFill>
            <a:srgbClr val="06C755"/>
          </a:solidFill>
          <a:ln/>
        </p:spPr>
      </p:sp>
      <p:sp>
        <p:nvSpPr>
          <p:cNvPr id="22" name="Shape 20"/>
          <p:cNvSpPr/>
          <p:nvPr/>
        </p:nvSpPr>
        <p:spPr>
          <a:xfrm>
            <a:off x="8293608" y="1874520"/>
            <a:ext cx="384048" cy="384048"/>
          </a:xfrm>
          <a:prstGeom prst="ellipse">
            <a:avLst/>
          </a:prstGeom>
          <a:solidFill>
            <a:srgbClr val="12183A"/>
          </a:solidFill>
          <a:ln/>
        </p:spPr>
      </p:sp>
      <p:sp>
        <p:nvSpPr>
          <p:cNvPr id="23" name="Shape 21"/>
          <p:cNvSpPr/>
          <p:nvPr/>
        </p:nvSpPr>
        <p:spPr>
          <a:xfrm>
            <a:off x="8385048" y="1965960"/>
            <a:ext cx="201168" cy="201168"/>
          </a:xfrm>
          <a:prstGeom prst="ellipse">
            <a:avLst/>
          </a:prstGeom>
          <a:solidFill>
            <a:srgbClr val="06C755"/>
          </a:solidFill>
          <a:ln/>
        </p:spPr>
      </p:sp>
      <p:sp>
        <p:nvSpPr>
          <p:cNvPr id="24" name="Text 22"/>
          <p:cNvSpPr/>
          <p:nvPr/>
        </p:nvSpPr>
        <p:spPr>
          <a:xfrm>
            <a:off x="8842248" y="1856232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83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無狀態認證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321040" y="23774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SessionCreationPolicy.STATELESS + JWT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321040" y="295351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C755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防 Session 固定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0080" y="3611880"/>
            <a:ext cx="3520440" cy="1783080"/>
          </a:xfrm>
          <a:prstGeom prst="rect">
            <a:avLst/>
          </a:prstGeom>
          <a:solidFill>
            <a:srgbClr val="F4F6F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40080" y="3611880"/>
            <a:ext cx="3520440" cy="73152"/>
          </a:xfrm>
          <a:prstGeom prst="rect">
            <a:avLst/>
          </a:prstGeom>
          <a:solidFill>
            <a:srgbClr val="06C755"/>
          </a:solidFill>
          <a:ln/>
        </p:spPr>
      </p:sp>
      <p:sp>
        <p:nvSpPr>
          <p:cNvPr id="29" name="Shape 27"/>
          <p:cNvSpPr/>
          <p:nvPr/>
        </p:nvSpPr>
        <p:spPr>
          <a:xfrm>
            <a:off x="868680" y="3886200"/>
            <a:ext cx="384048" cy="384048"/>
          </a:xfrm>
          <a:prstGeom prst="ellipse">
            <a:avLst/>
          </a:prstGeom>
          <a:solidFill>
            <a:srgbClr val="12183A"/>
          </a:solidFill>
          <a:ln/>
        </p:spPr>
      </p:sp>
      <p:sp>
        <p:nvSpPr>
          <p:cNvPr id="30" name="Shape 28"/>
          <p:cNvSpPr/>
          <p:nvPr/>
        </p:nvSpPr>
        <p:spPr>
          <a:xfrm>
            <a:off x="960120" y="3977640"/>
            <a:ext cx="201168" cy="201168"/>
          </a:xfrm>
          <a:prstGeom prst="ellipse">
            <a:avLst/>
          </a:prstGeom>
          <a:solidFill>
            <a:srgbClr val="06C755"/>
          </a:solidFill>
          <a:ln/>
        </p:spPr>
      </p:sp>
      <p:sp>
        <p:nvSpPr>
          <p:cNvPr id="31" name="Text 29"/>
          <p:cNvSpPr/>
          <p:nvPr/>
        </p:nvSpPr>
        <p:spPr>
          <a:xfrm>
            <a:off x="1417320" y="3867912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83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401 而非 403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96112" y="43891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HttpStatusEntryPoint(UNAUTHORIZED)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96112" y="496519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C755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配合前端自動登出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352544" y="3611880"/>
            <a:ext cx="3520440" cy="1783080"/>
          </a:xfrm>
          <a:prstGeom prst="rect">
            <a:avLst/>
          </a:prstGeom>
          <a:solidFill>
            <a:srgbClr val="F4F6F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352544" y="3611880"/>
            <a:ext cx="3520440" cy="73152"/>
          </a:xfrm>
          <a:prstGeom prst="rect">
            <a:avLst/>
          </a:prstGeom>
          <a:solidFill>
            <a:srgbClr val="06C755"/>
          </a:solidFill>
          <a:ln/>
        </p:spPr>
      </p:sp>
      <p:sp>
        <p:nvSpPr>
          <p:cNvPr id="36" name="Shape 34"/>
          <p:cNvSpPr/>
          <p:nvPr/>
        </p:nvSpPr>
        <p:spPr>
          <a:xfrm>
            <a:off x="4581144" y="3886200"/>
            <a:ext cx="384048" cy="384048"/>
          </a:xfrm>
          <a:prstGeom prst="ellipse">
            <a:avLst/>
          </a:prstGeom>
          <a:solidFill>
            <a:srgbClr val="12183A"/>
          </a:solidFill>
          <a:ln/>
        </p:spPr>
      </p:sp>
      <p:sp>
        <p:nvSpPr>
          <p:cNvPr id="37" name="Shape 35"/>
          <p:cNvSpPr/>
          <p:nvPr/>
        </p:nvSpPr>
        <p:spPr>
          <a:xfrm>
            <a:off x="4672584" y="3977640"/>
            <a:ext cx="201168" cy="201168"/>
          </a:xfrm>
          <a:prstGeom prst="ellipse">
            <a:avLst/>
          </a:prstGeom>
          <a:solidFill>
            <a:srgbClr val="06C755"/>
          </a:solidFill>
          <a:ln/>
        </p:spPr>
      </p:sp>
      <p:sp>
        <p:nvSpPr>
          <p:cNvPr id="38" name="Text 36"/>
          <p:cNvSpPr/>
          <p:nvPr/>
        </p:nvSpPr>
        <p:spPr>
          <a:xfrm>
            <a:off x="5129784" y="3867912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83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CORS 白名單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4608576" y="43891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僅允許 FRONTEND_URL，allowCredentials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608576" y="496519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C755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防跨站濫用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8065008" y="3611880"/>
            <a:ext cx="3520440" cy="1783080"/>
          </a:xfrm>
          <a:prstGeom prst="rect">
            <a:avLst/>
          </a:prstGeom>
          <a:solidFill>
            <a:srgbClr val="F4F6F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8065008" y="3611880"/>
            <a:ext cx="3520440" cy="73152"/>
          </a:xfrm>
          <a:prstGeom prst="rect">
            <a:avLst/>
          </a:prstGeom>
          <a:solidFill>
            <a:srgbClr val="06C755"/>
          </a:solidFill>
          <a:ln/>
        </p:spPr>
      </p:sp>
      <p:sp>
        <p:nvSpPr>
          <p:cNvPr id="43" name="Shape 41"/>
          <p:cNvSpPr/>
          <p:nvPr/>
        </p:nvSpPr>
        <p:spPr>
          <a:xfrm>
            <a:off x="8293608" y="3886200"/>
            <a:ext cx="384048" cy="384048"/>
          </a:xfrm>
          <a:prstGeom prst="ellipse">
            <a:avLst/>
          </a:prstGeom>
          <a:solidFill>
            <a:srgbClr val="12183A"/>
          </a:solidFill>
          <a:ln/>
        </p:spPr>
      </p:sp>
      <p:sp>
        <p:nvSpPr>
          <p:cNvPr id="44" name="Shape 42"/>
          <p:cNvSpPr/>
          <p:nvPr/>
        </p:nvSpPr>
        <p:spPr>
          <a:xfrm>
            <a:off x="8385048" y="3977640"/>
            <a:ext cx="201168" cy="201168"/>
          </a:xfrm>
          <a:prstGeom prst="ellipse">
            <a:avLst/>
          </a:prstGeom>
          <a:solidFill>
            <a:srgbClr val="06C755"/>
          </a:solidFill>
          <a:ln/>
        </p:spPr>
      </p:sp>
      <p:sp>
        <p:nvSpPr>
          <p:cNvPr id="45" name="Text 43"/>
          <p:cNvSpPr/>
          <p:nvPr/>
        </p:nvSpPr>
        <p:spPr>
          <a:xfrm>
            <a:off x="8842248" y="3867912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83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JWT 簽章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8321040" y="43891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HS256，密鑰來自 JWT_SECRET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8321040" y="496519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C755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防偽造 token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LINE Login OAuth 2.0 POC · 系統分析報告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18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5A623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RISKS &amp; TRADE-OFFS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已知風險與 POC 取捨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10908792" cy="87782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783080"/>
            <a:ext cx="73152" cy="87782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892808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JWT 經 URL query 傳遞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4343400" y="1892808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可能殘留於瀏覽器歷史 / Referer / log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635240" y="1965960"/>
            <a:ext cx="0" cy="512064"/>
          </a:xfrm>
          <a:prstGeom prst="line">
            <a:avLst/>
          </a:prstGeom>
          <a:noFill/>
          <a:ln w="9525">
            <a:solidFill>
              <a:srgbClr val="5B647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18120" y="1892808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C755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建議　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改一次性 code 換 token，或後端 set HttpOnly Cookie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2706624"/>
            <a:ext cx="10908792" cy="87782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2" name="Shape 10"/>
          <p:cNvSpPr/>
          <p:nvPr/>
        </p:nvSpPr>
        <p:spPr>
          <a:xfrm>
            <a:off x="640080" y="2706624"/>
            <a:ext cx="73152" cy="87782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2816352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JWT 存 localStorage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343400" y="281635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易受 XSS 竊取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635240" y="2889504"/>
            <a:ext cx="0" cy="512064"/>
          </a:xfrm>
          <a:prstGeom prst="line">
            <a:avLst/>
          </a:prstGeom>
          <a:noFill/>
          <a:ln w="9525">
            <a:solidFill>
              <a:srgbClr val="5B647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18120" y="2816352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C755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建議　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評估 HttpOnly Cookie + CSRF token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3630168"/>
            <a:ext cx="10908792" cy="87782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8" name="Shape 16"/>
          <p:cNvSpPr/>
          <p:nvPr/>
        </p:nvSpPr>
        <p:spPr>
          <a:xfrm>
            <a:off x="640080" y="3630168"/>
            <a:ext cx="73152" cy="87782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3739896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未驗 id_token 簽章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4343400" y="3739896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目前信任 profile API 單點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635240" y="3813048"/>
            <a:ext cx="0" cy="512064"/>
          </a:xfrm>
          <a:prstGeom prst="line">
            <a:avLst/>
          </a:prstGeom>
          <a:noFill/>
          <a:ln w="9525">
            <a:solidFill>
              <a:srgbClr val="5B647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818120" y="3739896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C755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建議　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正式環境驗 OIDC id_token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" y="4553712"/>
            <a:ext cx="10908792" cy="87782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4" name="Shape 22"/>
          <p:cNvSpPr/>
          <p:nvPr/>
        </p:nvSpPr>
        <p:spPr>
          <a:xfrm>
            <a:off x="640080" y="4553712"/>
            <a:ext cx="73152" cy="87782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5" name="Text 23"/>
          <p:cNvSpPr/>
          <p:nvPr/>
        </p:nvSpPr>
        <p:spPr>
          <a:xfrm>
            <a:off x="868680" y="466344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無 refresh / 撤銷機制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4343400" y="46634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JWT 到期前無法撤銷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7635240" y="4736592"/>
            <a:ext cx="0" cy="512064"/>
          </a:xfrm>
          <a:prstGeom prst="line">
            <a:avLst/>
          </a:prstGeom>
          <a:noFill/>
          <a:ln w="9525">
            <a:solidFill>
              <a:srgbClr val="5B647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18120" y="466344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C755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建議　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導入 refresh token 與撤銷清單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40080" y="5477256"/>
            <a:ext cx="10908792" cy="87782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0" name="Shape 28"/>
          <p:cNvSpPr/>
          <p:nvPr/>
        </p:nvSpPr>
        <p:spPr>
          <a:xfrm>
            <a:off x="640080" y="5477256"/>
            <a:ext cx="73152" cy="87782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1" name="Text 29"/>
          <p:cNvSpPr/>
          <p:nvPr/>
        </p:nvSpPr>
        <p:spPr>
          <a:xfrm>
            <a:off x="868680" y="5586984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密鑰以 .env 明文管理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4343400" y="5586984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僅限 POC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7635240" y="5660136"/>
            <a:ext cx="0" cy="512064"/>
          </a:xfrm>
          <a:prstGeom prst="line">
            <a:avLst/>
          </a:prstGeom>
          <a:noFill/>
          <a:ln w="9525">
            <a:solidFill>
              <a:srgbClr val="5B647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818120" y="5586984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C755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建議　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改用 Secret Manager / KMS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218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06C755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5603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6C755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NEXT STEPS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後續方向（POC → 正式化）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10908792" cy="841248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691640"/>
            <a:ext cx="914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6C755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01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1783080" y="1856232"/>
            <a:ext cx="0" cy="512064"/>
          </a:xfrm>
          <a:prstGeom prst="line">
            <a:avLst/>
          </a:prstGeom>
          <a:noFill/>
          <a:ln w="12700">
            <a:solidFill>
              <a:srgbClr val="D9DE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11680" y="1810512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183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OIDC id_token 驗章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766560" y="1810512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F3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移除對 profile API 的單點信任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2587752"/>
            <a:ext cx="10908792" cy="8412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587752"/>
            <a:ext cx="914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6C755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02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1783080" y="2752344"/>
            <a:ext cx="0" cy="512064"/>
          </a:xfrm>
          <a:prstGeom prst="line">
            <a:avLst/>
          </a:prstGeom>
          <a:noFill/>
          <a:ln w="12700">
            <a:solidFill>
              <a:srgbClr val="D9DE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11680" y="2706624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183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改善 JWT 傳遞與儲存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766560" y="2706624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F3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一次性 code 或 HttpOnly Cookie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3483864"/>
            <a:ext cx="10908792" cy="841248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483864"/>
            <a:ext cx="914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6C755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03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1783080" y="3648456"/>
            <a:ext cx="0" cy="512064"/>
          </a:xfrm>
          <a:prstGeom prst="line">
            <a:avLst/>
          </a:prstGeom>
          <a:noFill/>
          <a:ln w="12700">
            <a:solidFill>
              <a:srgbClr val="D9DE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011680" y="3602736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183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Refresh token 與登出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766560" y="3602736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F3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加入 token 續期與撤銷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" y="4379976"/>
            <a:ext cx="10908792" cy="8412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4379976"/>
            <a:ext cx="914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6C755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04</a:t>
            </a:r>
            <a:endParaRPr lang="en-US" sz="3000" dirty="0"/>
          </a:p>
        </p:txBody>
      </p:sp>
      <p:sp>
        <p:nvSpPr>
          <p:cNvPr id="23" name="Shape 21"/>
          <p:cNvSpPr/>
          <p:nvPr/>
        </p:nvSpPr>
        <p:spPr>
          <a:xfrm>
            <a:off x="1783080" y="4544568"/>
            <a:ext cx="0" cy="512064"/>
          </a:xfrm>
          <a:prstGeom prst="line">
            <a:avLst/>
          </a:prstGeom>
          <a:noFill/>
          <a:ln w="12700">
            <a:solidFill>
              <a:srgbClr val="D9DE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011680" y="4498848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183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密鑰與 Schema 治理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766560" y="4498848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F3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Secret Manager；Flyway 取代 ddl-auto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0080" y="5276088"/>
            <a:ext cx="10908792" cy="841248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27" name="Text 25"/>
          <p:cNvSpPr/>
          <p:nvPr/>
        </p:nvSpPr>
        <p:spPr>
          <a:xfrm>
            <a:off x="777240" y="5276088"/>
            <a:ext cx="914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6C755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05</a:t>
            </a:r>
            <a:endParaRPr lang="en-US" sz="3000" dirty="0"/>
          </a:p>
        </p:txBody>
      </p:sp>
      <p:sp>
        <p:nvSpPr>
          <p:cNvPr id="28" name="Shape 26"/>
          <p:cNvSpPr/>
          <p:nvPr/>
        </p:nvSpPr>
        <p:spPr>
          <a:xfrm>
            <a:off x="1783080" y="5440680"/>
            <a:ext cx="0" cy="512064"/>
          </a:xfrm>
          <a:prstGeom prst="line">
            <a:avLst/>
          </a:prstGeom>
          <a:noFill/>
          <a:ln w="12700">
            <a:solidFill>
              <a:srgbClr val="D9DE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011680" y="539496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183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補單元 / 整合測試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766560" y="53949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F3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state 不符、token 失敗、JWT 過期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LINE Login OAuth 2.0 POC · 系統分析報告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18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4023360"/>
            <a:ext cx="4572000" cy="45720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-1463040"/>
            <a:ext cx="3657600" cy="36576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6C755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194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6C755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POC 結論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26060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流程已打通，可作為正式登入機制的基礎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822960" y="374904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LINE 登入 → 後端換 token → 簽 JWT → 前端存取受保護資源全程驗證成功；正式化前優先處理 JWT 傳遞方式、id_token 驗章與密鑰治理。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4846320"/>
            <a:ext cx="3200400" cy="0"/>
          </a:xfrm>
          <a:prstGeom prst="line">
            <a:avLst/>
          </a:prstGeom>
          <a:noFill/>
          <a:ln w="25400">
            <a:solidFill>
              <a:srgbClr val="06C7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029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詳見　docs/SA-line-oauth-poc.md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6035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LINE Login OAuth 2.0 POC · 系統分析報告 · v0.1 · 2026-06-29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18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6C75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6C755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LIVE DEMO ·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實機 Demo：全流程登入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2624351" y="1527048"/>
            <a:ext cx="6942994" cy="4581144"/>
          </a:xfrm>
          <a:prstGeom prst="rect">
            <a:avLst/>
          </a:prstGeom>
          <a:solidFill>
            <a:srgbClr val="1E2761"/>
          </a:solidFill>
          <a:ln w="19050">
            <a:solidFill>
              <a:srgbClr val="06C7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3" name="Media 0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697503" y="1600200"/>
            <a:ext cx="6796690" cy="44348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6199632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從瀏覽器進入 → 點「使用 LINE 登入」→ 同意授權 → 自動導回商品頁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18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6C75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6C755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LIVE DEMO ·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實機 Demo：LINE 端授權畫面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2624351" y="1527048"/>
            <a:ext cx="6942994" cy="4581144"/>
          </a:xfrm>
          <a:prstGeom prst="rect">
            <a:avLst/>
          </a:prstGeom>
          <a:solidFill>
            <a:srgbClr val="1E2761"/>
          </a:solidFill>
          <a:ln w="19050">
            <a:solidFill>
              <a:srgbClr val="06C7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3" name="Media 0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697503" y="1600200"/>
            <a:ext cx="6796690" cy="44348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6199632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階段二 LINE 平台登入者身分認證（access.line.me）— 輸入認證碼完成授權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LINE Login OAuth 2.0 POC — SA 報告</dc:title>
  <dc:subject>PptxGenJS Presentation</dc:subject>
  <dc:creator>LINE OAuth POC</dc:creator>
  <cp:lastModifiedBy>LINE OAuth POC</cp:lastModifiedBy>
  <cp:revision>1</cp:revision>
  <dcterms:created xsi:type="dcterms:W3CDTF">2026-06-29T05:41:41Z</dcterms:created>
  <dcterms:modified xsi:type="dcterms:W3CDTF">2026-06-29T05:41:41Z</dcterms:modified>
</cp:coreProperties>
</file>